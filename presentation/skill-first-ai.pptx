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92240"/>
            <a:ext cx="12191695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56248"/>
            <a:ext cx="12191695" cy="27432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Segoe UI Semibold"/>
              </a:rPr>
              <a:t>Microsoft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0" y="457200"/>
            <a:ext cx="1005840" cy="3108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Semibold"/>
              </a:rPr>
              <a:t>AI Tech Circle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0" i="0">
                <a:solidFill>
                  <a:srgbClr val="FFFFFF"/>
                </a:solidFill>
                <a:latin typeface="Segoe UI Semibold"/>
              </a:rPr>
              <a:t>Skill-first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1">
                <a:solidFill>
                  <a:srgbClr val="50E6FF"/>
                </a:solidFill>
                <a:latin typeface="Segoe UI"/>
              </a:rPr>
              <a:t>Menos agentes. Mais capacidades inteligentes.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297680"/>
            <a:ext cx="1371600" cy="5486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7315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Segoe UI"/>
              </a:rPr>
              <a:t>Ricardo Cataldi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600" b="0" i="0">
                <a:solidFill>
                  <a:srgbClr val="F3F2F1"/>
                </a:solidFill>
                <a:latin typeface="Segoe UI"/>
              </a:rPr>
              <a:t>GBB Senior Cloud Solution Architect · Microsoft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600" b="0" i="0">
                <a:solidFill>
                  <a:srgbClr val="F3F2F1"/>
                </a:solidFill>
                <a:latin typeface="Segoe UI"/>
              </a:rPr>
              <a:t>Conselheiro acadêmico · FIAP / IBM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120640"/>
            <a:ext cx="42062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AI Tech Circle</a:t>
            </a:r>
          </a:p>
          <a:p>
            <a:pPr algn="r">
              <a:lnSpc>
                <a:spcPct val="115000"/>
              </a:lnSpc>
              <a:spcBef>
                <a:spcPts val="400"/>
              </a:spcBef>
            </a:pPr>
            <a:r>
              <a:rPr sz="1400" b="0" i="0">
                <a:solidFill>
                  <a:srgbClr val="F3F2F1"/>
                </a:solidFill>
                <a:latin typeface="Segoe UI"/>
              </a:rPr>
              <a:t>28 de maio de 2026 · São Paulo</a:t>
            </a:r>
          </a:p>
          <a:p>
            <a:pPr algn="r">
              <a:lnSpc>
                <a:spcPct val="115000"/>
              </a:lnSpc>
              <a:spcBef>
                <a:spcPts val="400"/>
              </a:spcBef>
            </a:pPr>
            <a:r>
              <a:rPr sz="1300" b="0" i="1">
                <a:solidFill>
                  <a:srgbClr val="50E6FF"/>
                </a:solidFill>
                <a:latin typeface="Segoe UI"/>
              </a:rPr>
              <a:t>github.com/Cataldir/skill-first-ai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2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Antes de começar — uma pergunta honesta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911535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</a:pPr>
            <a:r>
              <a:rPr sz="2800" b="0" i="1">
                <a:solidFill>
                  <a:srgbClr val="002050"/>
                </a:solidFill>
                <a:latin typeface="Segoe UI"/>
              </a:rPr>
              <a:t>Quantos agentes a sua empresa já criou nos últimos 12 meses?</a:t>
            </a:r>
          </a:p>
          <a:p>
            <a:pPr algn="l">
              <a:lnSpc>
                <a:spcPct val="130000"/>
              </a:lnSpc>
              <a:spcBef>
                <a:spcPts val="2400"/>
              </a:spcBef>
            </a:pPr>
            <a:r>
              <a:rPr sz="2000" b="0" i="0">
                <a:solidFill>
                  <a:srgbClr val="201F1E"/>
                </a:solidFill>
                <a:latin typeface="Segoe UI"/>
              </a:rPr>
              <a:t>Conte os pilotos. Conte os PoCs. Conte os “Copilot for X” que TI fez para uma diretoria. Conte os bots de RH, financeiro, jurídico, atendimento.</a:t>
            </a:r>
          </a:p>
          <a:p>
            <a:pPr algn="l">
              <a:lnSpc>
                <a:spcPct val="130000"/>
              </a:lnSpc>
              <a:spcBef>
                <a:spcPts val="1800"/>
              </a:spcBef>
            </a:pPr>
            <a:r>
              <a:rPr sz="2000" b="1" i="0">
                <a:solidFill>
                  <a:srgbClr val="201F1E"/>
                </a:solidFill>
                <a:latin typeface="Segoe UI"/>
              </a:rPr>
              <a:t>Não é trick question. É o ponto de partida.</a:t>
            </a:r>
          </a:p>
          <a:p>
            <a:pPr algn="l">
              <a:lnSpc>
                <a:spcPct val="130000"/>
              </a:lnSpc>
              <a:spcBef>
                <a:spcPts val="1800"/>
              </a:spcBef>
            </a:pPr>
            <a:r>
              <a:rPr sz="2000" b="0" i="0">
                <a:solidFill>
                  <a:srgbClr val="201F1E"/>
                </a:solidFill>
                <a:latin typeface="Segoe UI"/>
              </a:rPr>
              <a:t>Se a resposta começa com “uns sete, oito…”, a próxima pergunta importa mais do que parece:</a:t>
            </a:r>
          </a:p>
          <a:p>
            <a:pPr algn="l">
              <a:lnSpc>
                <a:spcPct val="130000"/>
              </a:lnSpc>
              <a:spcBef>
                <a:spcPts val="1200"/>
              </a:spcBef>
            </a:pPr>
            <a:r>
              <a:rPr sz="2200" b="1" i="0">
                <a:solidFill>
                  <a:srgbClr val="0078D4"/>
                </a:solidFill>
                <a:latin typeface="Segoe UI"/>
              </a:rPr>
              <a:t>quantos deles fazem as mesmas seis coisas em prompts ligeiramente diferentes?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3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A armadilha do “um agente por área”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1196721" cy="310896"/>
          </a:xfrm>
          <a:prstGeom prst="roundRect">
            <a:avLst/>
          </a:prstGeom>
          <a:solidFill>
            <a:srgbClr val="D83B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 Semibold"/>
              </a:rPr>
              <a:t>Padrão observado em quase toda enterprise hoje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2468880"/>
          <a:ext cx="10911535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5181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 Semibold"/>
                        </a:rPr>
                        <a:t>Área</a:t>
                      </a:r>
                    </a:p>
                  </a:txBody>
                  <a:tcPr marL="109728" marR="109728" marT="54864" marB="54864"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 Semibold"/>
                        </a:rPr>
                        <a:t>Agente</a:t>
                      </a:r>
                    </a:p>
                  </a:txBody>
                  <a:tcPr marL="109728" marR="109728" marT="54864" marB="54864"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Segoe UI Semibold"/>
                        </a:rPr>
                        <a:t>O que ele faz por dentro</a:t>
                      </a:r>
                    </a:p>
                  </a:txBody>
                  <a:tcPr marL="109728" marR="109728" marT="54864" marB="54864">
                    <a:solidFill>
                      <a:srgbClr val="00205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RH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Agente de RH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consulta política · valida permissão · busca documento · abre chamado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Financeiro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Agente Financeiro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consulta política · valida permissão · busca documento · abre chamado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Jurídico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Agente Jurídico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consulta política · valida permissão · busca documento · abre chamado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TI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Agente de Acessos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consulta política · valida permissão · busca documento · abre chamado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Atendimento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Agente CS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01F1E"/>
                          </a:solidFill>
                          <a:latin typeface="Segoe UI"/>
                        </a:rPr>
                        <a:t>consulta política · valida permissão · busca documento · abre chamado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57150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1">
                <a:solidFill>
                  <a:srgbClr val="002050"/>
                </a:solidFill>
                <a:latin typeface="Segoe UI"/>
              </a:rPr>
              <a:t>Cinco agentes. Vinte cópias das mesmas quatro capacidades. Cinco prompts ligeiramente diferentes. Zero auditoria compartilhada.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4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Vocabulário — antes da gente concordar, separar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2057400"/>
          <a:ext cx="10911535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9"/>
              </a:tblGrid>
              <a:tr h="512064"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Segoe UI Semibold"/>
                        </a:rPr>
                        <a:t>Termo</a:t>
                      </a:r>
                    </a:p>
                  </a:txBody>
                  <a:tcPr marL="109728" marR="109728" marT="54864" marB="54864"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Segoe UI Semibold"/>
                        </a:rPr>
                        <a:t>O que é</a:t>
                      </a:r>
                    </a:p>
                  </a:txBody>
                  <a:tcPr marL="109728" marR="109728" marT="54864" marB="54864">
                    <a:solidFill>
                      <a:srgbClr val="0020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Segoe UI Semibold"/>
                        </a:rPr>
                        <a:t>O que NÃO é</a:t>
                      </a:r>
                    </a:p>
                  </a:txBody>
                  <a:tcPr marL="109728" marR="109728" marT="54864" marB="54864">
                    <a:solidFill>
                      <a:srgbClr val="00205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Automação tradicional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fluxo determinístico, regras fixas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inteligente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Skill (capacidade)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função tipada, versionada, governada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conversa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Workflow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orquestração explícita de skills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adivinhação</a:t>
                      </a:r>
                    </a:p>
                  </a:txBody>
                  <a:tcPr marL="109728" marR="109728" marT="45720" marB="45720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Agente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composição autônoma de skills + memória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i="0">
                          <a:solidFill>
                            <a:srgbClr val="201F1E"/>
                          </a:solidFill>
                          <a:latin typeface="Segoe UI"/>
                        </a:rPr>
                        <a:t>bot de FAQ</a:t>
                      </a:r>
                    </a:p>
                  </a:txBody>
                  <a:tcPr marL="109728" marR="109728" marT="45720" marB="45720"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4937760"/>
            <a:ext cx="10911535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002050"/>
                </a:solidFill>
                <a:latin typeface="Segoe UI"/>
              </a:rPr>
              <a:t>Quando o time fala “agente”, costuma estar misturando os quatro. Cada um exige um nível diferente de governança.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5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Decompondo um “agente financeiro” genérico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01F1E"/>
                </a:solidFill>
                <a:latin typeface="Segoe UI"/>
              </a:rPr>
              <a:t>Antes de pedir “crie um agente financeiro”, responda: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6888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0078D4"/>
                </a:solidFill>
                <a:latin typeface="Segoe UI Semibold"/>
              </a:rPr>
              <a:t>quais capacidades já deveriam existir?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291840"/>
            <a:ext cx="64008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201F1E"/>
                </a:solidFill>
                <a:latin typeface="Segoe UI"/>
              </a:rPr>
              <a:t>1.  policy_lookup — consultar política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900" b="0" i="0">
                <a:solidFill>
                  <a:srgbClr val="201F1E"/>
                </a:solidFill>
                <a:latin typeface="Segoe UI"/>
              </a:rPr>
              <a:t>2.  permission_check — validar permissão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900" b="0" i="0">
                <a:solidFill>
                  <a:srgbClr val="201F1E"/>
                </a:solidFill>
                <a:latin typeface="Segoe UI"/>
              </a:rPr>
              <a:t>3.  document_search — buscar documentos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900" b="0" i="0">
                <a:solidFill>
                  <a:srgbClr val="201F1E"/>
                </a:solidFill>
                <a:latin typeface="Segoe UI"/>
              </a:rPr>
              <a:t>4.  justification_draft — gerar justificativa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900" b="0" i="0">
                <a:solidFill>
                  <a:srgbClr val="201F1E"/>
                </a:solidFill>
                <a:latin typeface="Segoe UI"/>
              </a:rPr>
              <a:t>5.  ticket_open — abrir chamado</a:t>
            </a:r>
          </a:p>
          <a:p>
            <a:pPr algn="l">
              <a:lnSpc>
                <a:spcPct val="120000"/>
              </a:lnSpc>
              <a:spcBef>
                <a:spcPts val="600"/>
              </a:spcBef>
            </a:pPr>
            <a:r>
              <a:rPr sz="1900" b="0" i="0">
                <a:solidFill>
                  <a:srgbClr val="201F1E"/>
                </a:solidFill>
                <a:latin typeface="Segoe UI"/>
              </a:rPr>
              <a:t>6.  evidence_log — registrar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3291840"/>
            <a:ext cx="420624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002050"/>
                </a:solidFill>
                <a:latin typeface="Segoe UI"/>
              </a:rPr>
              <a:t>Nenhuma é específica de finanças.</a:t>
            </a:r>
          </a:p>
          <a:p>
            <a:pPr algn="l">
              <a:lnSpc>
                <a:spcPct val="120000"/>
              </a:lnSpc>
              <a:spcBef>
                <a:spcPts val="1000"/>
              </a:spcBef>
            </a:pPr>
            <a:r>
              <a:rPr sz="1600" b="0" i="0">
                <a:solidFill>
                  <a:srgbClr val="201F1E"/>
                </a:solidFill>
                <a:latin typeface="Segoe UI"/>
              </a:rPr>
              <a:t>RH precisa das seis.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00" b="0" i="0">
                <a:solidFill>
                  <a:srgbClr val="201F1E"/>
                </a:solidFill>
                <a:latin typeface="Segoe UI"/>
              </a:rPr>
              <a:t>TI precisa das seis.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00" b="0" i="0">
                <a:solidFill>
                  <a:srgbClr val="201F1E"/>
                </a:solidFill>
                <a:latin typeface="Segoe UI"/>
              </a:rPr>
              <a:t>Jurídico precisa das seis.</a:t>
            </a:r>
          </a:p>
          <a:p>
            <a:pPr algn="l">
              <a:lnSpc>
                <a:spcPct val="120000"/>
              </a:lnSpc>
              <a:spcBef>
                <a:spcPts val="400"/>
              </a:spcBef>
            </a:pPr>
            <a:r>
              <a:rPr sz="1600" b="0" i="0">
                <a:solidFill>
                  <a:srgbClr val="201F1E"/>
                </a:solidFill>
                <a:latin typeface="Segoe UI"/>
              </a:rPr>
              <a:t>Atendimento precisa das seis.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 Semibold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3F2F1"/>
                </a:solidFill>
                <a:latin typeface="Segoe UI"/>
              </a:rPr>
              <a:t>Skill-first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3F2F1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F2F1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3F2F1"/>
                </a:solidFill>
                <a:latin typeface="Segoe UI Semibold"/>
              </a:rPr>
              <a:t>6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1005840" cy="3108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 Semibold"/>
              </a:rPr>
              <a:t>DEMO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83080" y="2057400"/>
            <a:ext cx="1005840" cy="310896"/>
          </a:xfrm>
          <a:prstGeom prst="roundRect">
            <a:avLst/>
          </a:prstGeom>
          <a:solidFill>
            <a:srgbClr val="002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50E6FF"/>
                </a:solidFill>
                <a:latin typeface="Segoe UI Semibold"/>
              </a:rPr>
              <a:t>demo segmentada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Segoe UI Semibold"/>
              </a:rPr>
              <a:t>Foundry portal — finance-orchestrator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044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F3F2F1"/>
                </a:solidFill>
                <a:latin typeface="Segoe UI"/>
              </a:rPr>
              <a:t>Um prompt agent chamado finance-orchestrator.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Seis tools MCP, expostas via APIM AI Gateway, vindas do registry.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Um turno: “quero reembolso de USD 1800 para visitar um cliente novo”.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Tool calls aparecem em sequência: policy_lookup → permission_check → document_search → justification_draft → ticket_open → evidence_log.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520440"/>
            <a:ext cx="3291840" cy="2194560"/>
          </a:xfrm>
          <a:prstGeom prst="rect">
            <a:avLst/>
          </a:prstGeom>
          <a:solidFill>
            <a:srgbClr val="002050"/>
          </a:solidFill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657600"/>
            <a:ext cx="29260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50E6FF"/>
                </a:solidFill>
                <a:latin typeface="Segoe UI"/>
              </a:rPr>
              <a:t>⟵ voltar para o deck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00" b="0" i="1">
                <a:solidFill>
                  <a:srgbClr val="FFFFFF"/>
                </a:solidFill>
                <a:latin typeface="Segoe UI"/>
              </a:rPr>
              <a:t>O que faz aquelas seis ferramentas serem reutilizáveis?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7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O contrato — o que faz uma capability ser reutilizável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605E5C"/>
                </a:solidFill>
                <a:latin typeface="Segoe UI"/>
              </a:rPr>
              <a:t>Quatro trabalhos. Sempre os mesmos.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10911535" cy="182880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45433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0E6FF"/>
                </a:solidFill>
                <a:latin typeface="Cascadia Mono"/>
              </a:rPr>
              <a:t>class BaseSkill(abc.ABC, Generic[InputT, OutputT]):
    manifest: ClassVar[SkillManifest]            # identidade
    InputSchema: ClassVar[type[BaseModel]]       # tradução
    OutputSchema: ClassVar[type[BaseModel]]      # tradução
    def run(self, payload, *, correlation_id=None) -&gt; SkillResult:
        ...   # falha categorizada + trace de evidência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10911535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201F1E"/>
                </a:solidFill>
                <a:latin typeface="Segoe UI"/>
              </a:rPr>
              <a:t>•  Identidade — nome estável + versão semântica que dá pra fixar.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00" b="0" i="0">
                <a:solidFill>
                  <a:srgbClr val="201F1E"/>
                </a:solidFill>
                <a:latin typeface="Segoe UI"/>
              </a:rPr>
              <a:t>•  Tradução — Pydantic converte o que o agente mandou em modelo de domínio.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00" b="0" i="0">
                <a:solidFill>
                  <a:srgbClr val="201F1E"/>
                </a:solidFill>
                <a:latin typeface="Segoe UI"/>
              </a:rPr>
              <a:t>•  Falha categorizada — OK · INVALID_INPUT · REFUSED · TEMPORARY_FAILURE.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600" b="0" i="0">
                <a:solidFill>
                  <a:srgbClr val="201F1E"/>
                </a:solidFill>
                <a:latin typeface="Segoe UI"/>
              </a:rPr>
              <a:t>•  Evidência — SkillTrace com correlation id, latência, categoria.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8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O resultado é monótono — e isso é uma qualidade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10911535" cy="169164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194560"/>
            <a:ext cx="10454335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0E6FF"/>
                </a:solidFill>
                <a:latin typeface="Cascadia Mono"/>
              </a:rPr>
              <a:t>class SkillResult(BaseModel, Generic[OutputT]):
    category: ResultCategory
    output: OutputT | None
    message: str
    trace: SkillTrace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23360"/>
            <a:ext cx="109115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01F1E"/>
                </a:solidFill>
                <a:latin typeface="Segoe UI"/>
              </a:rPr>
              <a:t>Todo consumidor — agente Foundry, MCP server, FastAPI interno, import direto em Python — recebe o mesmo envelope.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937760"/>
            <a:ext cx="10911535" cy="1188720"/>
          </a:xfrm>
          <a:prstGeom prst="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937760"/>
            <a:ext cx="64008" cy="1188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074920"/>
            <a:ext cx="104543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002050"/>
                </a:solidFill>
                <a:latin typeface="Segoe UI"/>
              </a:rPr>
              <a:t>Se a sua skill precisa de um “modo especial” para um agente específico, ela ainda não é uma skill. É um pedaço do agente disfarçado.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 Semibold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3F2F1"/>
                </a:solidFill>
                <a:latin typeface="Segoe UI"/>
              </a:rPr>
              <a:t>Skill-first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3F2F1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F2F1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3F2F1"/>
                </a:solidFill>
                <a:latin typeface="Segoe UI Semibold"/>
              </a:rPr>
              <a:t>9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1005840" cy="3108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 Semibold"/>
              </a:rPr>
              <a:t>DEMO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83080" y="2057400"/>
            <a:ext cx="1005840" cy="310896"/>
          </a:xfrm>
          <a:prstGeom prst="roundRect">
            <a:avLst/>
          </a:prstGeom>
          <a:solidFill>
            <a:srgbClr val="002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50E6FF"/>
                </a:solidFill>
                <a:latin typeface="Segoe UI Semibold"/>
              </a:rPr>
              <a:t>demo segmentada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Segoe UI Semibold"/>
              </a:rPr>
              <a:t>Repositório — onde mora o contrato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044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F3F2F1"/>
                </a:solidFill>
                <a:latin typeface="Segoe UI"/>
              </a:rPr>
              <a:t>src/skill_first_ai/contracts/skill.py — BaseSkill, SkillManifest, ResultCategory.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src/skill_first_ai/skills/policy_lookup.py — uma skill real, ~70 linhas.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src/skill_first_ai/registry/registry.py — registry + default_registry().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src/skill_first_ai/foundry/mcp_server.py — vira MCP server em um único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520440"/>
            <a:ext cx="3291840" cy="2194560"/>
          </a:xfrm>
          <a:prstGeom prst="rect">
            <a:avLst/>
          </a:prstGeom>
          <a:solidFill>
            <a:srgbClr val="002050"/>
          </a:solidFill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657600"/>
            <a:ext cx="29260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50E6FF"/>
                </a:solidFill>
                <a:latin typeface="Segoe UI"/>
              </a:rPr>
              <a:t>⟵ voltar para o deck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00" b="0" i="1">
                <a:solidFill>
                  <a:srgbClr val="FFFFFF"/>
                </a:solidFill>
                <a:latin typeface="Segoe UI"/>
              </a:rPr>
              <a:t>Como a gente impede que essas skills virem bagunça em seis meses?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10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Governança — testar, versionar, governar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1005840" cy="310896"/>
          </a:xfrm>
          <a:prstGeom prst="roundRect">
            <a:avLst/>
          </a:prstGeom>
          <a:solidFill>
            <a:srgbClr val="002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50E6FF"/>
                </a:solidFill>
                <a:latin typeface="Segoe UI Semibold"/>
              </a:rPr>
              <a:t>testar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02082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2050"/>
                </a:solidFill>
                <a:latin typeface="Segoe UI Semibold"/>
              </a:rPr>
              <a:t>Schema golden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46888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01F1E"/>
                </a:solidFill>
                <a:latin typeface="Segoe UI"/>
              </a:rPr>
              <a:t>qualquer mudança no input é detectada como drift e exige bump de versão.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108960"/>
            <a:ext cx="1005840" cy="310896"/>
          </a:xfrm>
          <a:prstGeom prst="roundRect">
            <a:avLst/>
          </a:prstGeom>
          <a:solidFill>
            <a:srgbClr val="002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50E6FF"/>
                </a:solidFill>
                <a:latin typeface="Segoe UI Semibold"/>
              </a:rPr>
              <a:t>versionar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2050"/>
                </a:solidFill>
                <a:latin typeface="Segoe UI Semibold"/>
              </a:rPr>
              <a:t>Semver no manifesto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044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01F1E"/>
                </a:solidFill>
                <a:latin typeface="Segoe UI"/>
              </a:rPr>
              <a:t>agentes fixam versão. Skill nova nasce em 1.0.0; breaking change vira 2.0.0.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60520"/>
            <a:ext cx="1005840" cy="310896"/>
          </a:xfrm>
          <a:prstGeom prst="roundRect">
            <a:avLst/>
          </a:prstGeom>
          <a:solidFill>
            <a:srgbClr val="002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50E6FF"/>
                </a:solidFill>
                <a:latin typeface="Segoe UI Semibold"/>
              </a:rPr>
              <a:t>governar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1239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02050"/>
                </a:solidFill>
                <a:latin typeface="Segoe UI Semibold"/>
              </a:rPr>
              <a:t>Manifesto obrigatório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5720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01F1E"/>
                </a:solidFill>
                <a:latin typeface="Segoe UI"/>
              </a:rPr>
              <a:t>sem owner, descrição, side_effects ou pii declarados, a skill nem entra no registry.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532120"/>
            <a:ext cx="10911535" cy="777240"/>
          </a:xfrm>
          <a:prstGeom prst="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532120"/>
            <a:ext cx="64008" cy="777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623560"/>
            <a:ext cx="10454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002050"/>
                </a:solidFill>
                <a:latin typeface="Segoe UI"/>
              </a:rPr>
              <a:t>A barreira não é técnica. É social. O contrato escrito força o time a decidir antes de publicar.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 Semibold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3F2F1"/>
                </a:solidFill>
                <a:latin typeface="Segoe UI"/>
              </a:rPr>
              <a:t>Skill-first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3F2F1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F2F1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3F2F1"/>
                </a:solidFill>
                <a:latin typeface="Segoe UI Semibold"/>
              </a:rPr>
              <a:t>11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1005840" cy="3108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 Semibold"/>
              </a:rPr>
              <a:t>DEMO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83080" y="2057400"/>
            <a:ext cx="1005840" cy="310896"/>
          </a:xfrm>
          <a:prstGeom prst="roundRect">
            <a:avLst/>
          </a:prstGeom>
          <a:solidFill>
            <a:srgbClr val="002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50E6FF"/>
                </a:solidFill>
                <a:latin typeface="Segoe UI Semibold"/>
              </a:rPr>
              <a:t>demo segmentada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Segoe UI Semibold"/>
              </a:rPr>
              <a:t>Governança rodando — pytest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044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F3F2F1"/>
                </a:solidFill>
                <a:latin typeface="Segoe UI"/>
              </a:rPr>
              <a:t>uv run pytest tests/test_governance.py -v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test_skill_has_complete_manifest — owner, descrição, versão.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test_skill_declares_schemas — extra='forbid' no input.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test_side_effecting_skills_require_pii_review — side-effect implica PII review.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test_skill_input_schema_matches_golden — snapshot do JSON schema.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520440"/>
            <a:ext cx="3291840" cy="2194560"/>
          </a:xfrm>
          <a:prstGeom prst="rect">
            <a:avLst/>
          </a:prstGeom>
          <a:solidFill>
            <a:srgbClr val="002050"/>
          </a:solidFill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657600"/>
            <a:ext cx="29260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50E6FF"/>
                </a:solidFill>
                <a:latin typeface="Segoe UI"/>
              </a:rPr>
              <a:t>⟵ voltar para o deck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00" b="0" i="1">
                <a:solidFill>
                  <a:srgbClr val="FFFFFF"/>
                </a:solidFill>
                <a:latin typeface="Segoe UI"/>
              </a:rPr>
              <a:t>Por que isso muda o que a gente discute em comitê?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12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Reuso real — o teste do segundo agente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201F1E"/>
                </a:solidFill>
                <a:latin typeface="Segoe UI"/>
              </a:rPr>
              <a:t>Mesmo registry. Outro system_prompt. Agente de RH pronto.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606040"/>
            <a:ext cx="10911535" cy="237744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454335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0E6FF"/>
                </a:solidFill>
                <a:latin typeface="Cascadia Mono"/>
              </a:rPr>
              <a:t>name: hr-orchestrator
tools:
  - policy_lookup        # mesma skill, manifesto idêntico
  - permission_check     # mesma skill, manifesto idêntico
  - document_search      # mesma skill, manifesto idêntico
  - justification_draft  # mesma skill, manifesto idêntico
  - ticket_open          # mesma skill, requires_human_approval: true
  - evidence_log         # mesma skill, append-only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5212080"/>
            <a:ext cx="10911535" cy="1005840"/>
          </a:xfrm>
          <a:prstGeom prst="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5212080"/>
            <a:ext cx="64008" cy="10058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5349240"/>
            <a:ext cx="104543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002050"/>
                </a:solidFill>
                <a:latin typeface="Segoe UI"/>
              </a:rPr>
              <a:t>Quando o reuso aparece, a próxima conversa em comitê muda. Não é “vamos criar mais um agente”. É “qual capacidade está faltando?”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 Semibold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3F2F1"/>
                </a:solidFill>
                <a:latin typeface="Segoe UI"/>
              </a:rPr>
              <a:t>Skill-first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3F2F1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F2F1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3F2F1"/>
                </a:solidFill>
                <a:latin typeface="Segoe UI Semibold"/>
              </a:rPr>
              <a:t>13 / 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57400"/>
            <a:ext cx="1005840" cy="310896"/>
          </a:xfrm>
          <a:prstGeom prst="round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 Semibold"/>
              </a:rPr>
              <a:t>DEMO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83080" y="2057400"/>
            <a:ext cx="1005840" cy="310896"/>
          </a:xfrm>
          <a:prstGeom prst="roundRect">
            <a:avLst/>
          </a:prstGeom>
          <a:solidFill>
            <a:srgbClr val="002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50E6FF"/>
                </a:solidFill>
                <a:latin typeface="Segoe UI Semibold"/>
              </a:rPr>
              <a:t>demo segmentada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091153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Segoe UI Semibold"/>
              </a:rPr>
              <a:t>Foundry portal — segundo agente, mesmas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52044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 i="0">
                <a:solidFill>
                  <a:srgbClr val="F3F2F1"/>
                </a:solidFill>
                <a:latin typeface="Segoe UI"/>
              </a:rPr>
              <a:t>Prompt agent hr-orchestrator consumindo as mesmas seis tools MCP.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Turno: “quero solicitar 18 dias de férias em julho”.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700" b="0" i="0">
                <a:solidFill>
                  <a:srgbClr val="F3F2F1"/>
                </a:solidFill>
                <a:latin typeface="Segoe UI"/>
              </a:rPr>
              <a:t>Mesma sequência de tool calls. Resultado diferente porque a política e a permissão são diferentes — as skills são iguais.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0" y="3520440"/>
            <a:ext cx="3291840" cy="2194560"/>
          </a:xfrm>
          <a:prstGeom prst="rect">
            <a:avLst/>
          </a:prstGeom>
          <a:solidFill>
            <a:srgbClr val="002050"/>
          </a:solidFill>
          <a:ln w="19050">
            <a:solidFill>
              <a:srgbClr val="50E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3657600"/>
            <a:ext cx="29260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50E6FF"/>
                </a:solidFill>
                <a:latin typeface="Segoe UI"/>
              </a:rPr>
              <a:t>⟵ voltar para o deck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00" b="0" i="1">
                <a:solidFill>
                  <a:srgbClr val="FFFFFF"/>
                </a:solidFill>
                <a:latin typeface="Segoe UI"/>
              </a:rPr>
              <a:t>A última pergunta é a que mais incomoda em comitê.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14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Anti-padrões — o que eu vejo dar errado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1005840" cy="310896"/>
          </a:xfrm>
          <a:prstGeom prst="roundRect">
            <a:avLst/>
          </a:prstGeom>
          <a:solidFill>
            <a:srgbClr val="D83B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 Semibold"/>
              </a:rPr>
              <a:t>vanity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1984248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01F1E"/>
                </a:solidFill>
                <a:latin typeface="Segoe UI"/>
              </a:rPr>
              <a:t>Cada diretoria pede “o meu agente”. Quando você abre, é a mesma busca + a mesma política, com outro nome. Mostre o agente vizinho.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017520"/>
            <a:ext cx="1005840" cy="310896"/>
          </a:xfrm>
          <a:prstGeom prst="roundRect">
            <a:avLst/>
          </a:prstGeom>
          <a:solidFill>
            <a:srgbClr val="D83B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 Semibold"/>
              </a:rPr>
              <a:t>skill-shaped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90088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01F1E"/>
                </a:solidFill>
                <a:latin typeface="Segoe UI"/>
              </a:rPr>
              <a:t>Chamam de “agente” o que é só uma função tipada. Promova para skill, registre, versione. Vira ativo da empresa.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23360"/>
            <a:ext cx="1005840" cy="310896"/>
          </a:xfrm>
          <a:prstGeom prst="roundRect">
            <a:avLst/>
          </a:prstGeom>
          <a:solidFill>
            <a:srgbClr val="D83B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 Semibold"/>
              </a:rPr>
              <a:t>orchestrator-shaped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995928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01F1E"/>
                </a:solidFill>
                <a:latin typeface="Segoe UI"/>
              </a:rPr>
              <a:t>Skill que internamente faz três coisas (chama API, formata, escreve em banco). Quebre em três. Cada uma tem dono diferente.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029200"/>
            <a:ext cx="1005840" cy="310896"/>
          </a:xfrm>
          <a:prstGeom prst="roundRect">
            <a:avLst/>
          </a:prstGeom>
          <a:solidFill>
            <a:srgbClr val="D83B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Segoe UI Semibold"/>
              </a:rPr>
              <a:t>silent retry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5001768"/>
            <a:ext cx="963137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201F1E"/>
                </a:solidFill>
                <a:latin typeface="Segoe UI"/>
              </a:rPr>
              <a:t>Skill que engole erro e devolve OK “vazio”. Use TEMPORARY_FAILURE. O agente decide se tenta de novo.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15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0">
                <a:solidFill>
                  <a:srgbClr val="605E5C"/>
                </a:solidFill>
                <a:latin typeface="Segoe UI Semibold"/>
              </a:rPr>
              <a:t>A pergunta que define o roadmap dos próximos 12 meses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1153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0" i="0">
                <a:solidFill>
                  <a:srgbClr val="002050"/>
                </a:solidFill>
                <a:latin typeface="Segoe UI"/>
              </a:rPr>
              <a:t>A empresa precisa de</a:t>
            </a:r>
          </a:p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sz="6400" b="1" i="0">
                <a:solidFill>
                  <a:srgbClr val="201F1E"/>
                </a:solidFill>
                <a:latin typeface="Segoe UI"/>
              </a:rPr>
              <a:t>mais agentes</a:t>
            </a:r>
          </a:p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sz="4000" b="0" i="0">
                <a:solidFill>
                  <a:srgbClr val="002050"/>
                </a:solidFill>
                <a:latin typeface="Segoe UI"/>
              </a:rPr>
              <a:t>ou de</a:t>
            </a:r>
          </a:p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sz="6400" b="1" i="0">
                <a:solidFill>
                  <a:srgbClr val="0078D4"/>
                </a:solidFill>
                <a:latin typeface="Segoe UI"/>
              </a:rPr>
              <a:t>melhores capacidades reutilizáveis?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6692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605E5C"/>
                </a:solidFill>
                <a:latin typeface="Segoe UI"/>
              </a:rPr>
              <a:t>A resposta honesta para a maioria das empresas hoje é a segunda — e ninguém está medindo isso.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02050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605E5C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605E5C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05E5C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605E5C"/>
                </a:solidFill>
                <a:latin typeface="Segoe UI Semibold"/>
              </a:rPr>
              <a:t>16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68680"/>
            <a:ext cx="10911535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600" b="0" i="0">
                <a:solidFill>
                  <a:srgbClr val="002050"/>
                </a:solidFill>
                <a:latin typeface="Segoe UI Semibold"/>
              </a:rPr>
              <a:t>O que levar para segunda-feira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19"/>
            <a:ext cx="914400" cy="6400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10911535" cy="4160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201F1E"/>
                </a:solidFill>
                <a:latin typeface="Segoe UI"/>
              </a:rPr>
              <a:t>1.  Inventário de agentes. Liste o que já existe. Pinte os duplicados.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201F1E"/>
                </a:solidFill>
                <a:latin typeface="Segoe UI"/>
              </a:rPr>
              <a:t>2.  Inventário de capacidades. Quais skills os agentes existentes chamam?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201F1E"/>
                </a:solidFill>
                <a:latin typeface="Segoe UI"/>
              </a:rPr>
              <a:t>3.  Registry mínimo. Comece com 5–6 capacidades verdadeiras. Não 50.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201F1E"/>
                </a:solidFill>
                <a:latin typeface="Segoe UI"/>
              </a:rPr>
              <a:t>4.  Contrato escrito. SkillManifest + ResultCategory em um README.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201F1E"/>
                </a:solidFill>
                <a:latin typeface="Segoe UI"/>
              </a:rPr>
              <a:t>5.  Primeiro teste de governança. “Sem owner, não registra.” Vire regra.</a:t>
            </a:r>
          </a:p>
          <a:p>
            <a:pPr algn="l">
              <a:lnSpc>
                <a:spcPct val="135000"/>
              </a:lnSpc>
              <a:spcBef>
                <a:spcPts val="800"/>
              </a:spcBef>
            </a:pPr>
            <a:r>
              <a:rPr sz="1700" b="0" i="0">
                <a:solidFill>
                  <a:srgbClr val="201F1E"/>
                </a:solidFill>
                <a:latin typeface="Segoe UI"/>
              </a:rPr>
              <a:t>6.  Foundry como destino, não como ponto de partida. Prompt agents em cima do MCP server, não o contrário.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532120"/>
            <a:ext cx="10911535" cy="777240"/>
          </a:xfrm>
          <a:prstGeom prst="rect">
            <a:avLst/>
          </a:prstGeom>
          <a:solidFill>
            <a:srgbClr val="F3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532120"/>
            <a:ext cx="64008" cy="777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650992"/>
            <a:ext cx="10454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1">
                <a:solidFill>
                  <a:srgbClr val="002050"/>
                </a:solidFill>
                <a:latin typeface="Segoe UI"/>
              </a:rPr>
              <a:t>O próximo agente que vocês forem aprovar vale a pergunta: “qual skill nova esse agente exige?” Se a resposta for “nenhuma”, talvez ele já exista.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Segoe UI Semibold"/>
              </a:rPr>
              <a:t>Microsoft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29260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3F2F1"/>
                </a:solidFill>
                <a:latin typeface="Segoe UI"/>
              </a:rPr>
              <a:t>Skill-first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292608"/>
            <a:ext cx="3962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0" i="0">
                <a:solidFill>
                  <a:srgbClr val="F3F2F1"/>
                </a:solidFill>
                <a:latin typeface="Segoe UI"/>
              </a:rPr>
              <a:t>AI Tech Circle · 28 mai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5566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F3F2F1"/>
                </a:solidFill>
                <a:latin typeface="Segoe UI"/>
              </a:rPr>
              <a:t>Ricardo Cataldi · Microsoft GBB  ·  github.com/Cataldir/skill-first-ai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556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F3F2F1"/>
                </a:solidFill>
                <a:latin typeface="Segoe UI Semibold"/>
              </a:rPr>
              <a:t>17 / 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1091153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0" b="1" i="0">
                <a:solidFill>
                  <a:srgbClr val="FFFFFF"/>
                </a:solidFill>
                <a:latin typeface="Segoe UI"/>
              </a:rPr>
              <a:t>Menos agentes.</a:t>
            </a:r>
          </a:p>
          <a:p>
            <a:pPr algn="ctr">
              <a:lnSpc>
                <a:spcPct val="105000"/>
              </a:lnSpc>
              <a:spcBef>
                <a:spcPts val="800"/>
              </a:spcBef>
            </a:pPr>
            <a:r>
              <a:rPr sz="8400" b="1" i="0">
                <a:solidFill>
                  <a:srgbClr val="50E6FF"/>
                </a:solidFill>
                <a:latin typeface="Segoe UI"/>
              </a:rPr>
              <a:t>Mais capacidades.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4937760"/>
            <a:ext cx="1828800" cy="54864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1153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FFFFF"/>
                </a:solidFill>
                <a:latin typeface="Segoe UI"/>
              </a:rPr>
              <a:t>Ricardo Cataldi · Microsoft GBB</a:t>
            </a:r>
          </a:p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sz="1600" b="0" i="1">
                <a:solidFill>
                  <a:srgbClr val="50E6FF"/>
                </a:solidFill>
                <a:latin typeface="Segoe UI"/>
              </a:rPr>
              <a:t>github.com/Cataldir/skill-first-ai</a:t>
            </a:r>
          </a:p>
          <a:p>
            <a:pPr algn="ctr">
              <a:lnSpc>
                <a:spcPct val="120000"/>
              </a:lnSpc>
              <a:spcBef>
                <a:spcPts val="600"/>
              </a:spcBef>
            </a:pPr>
            <a:r>
              <a:rPr sz="1400" b="0" i="0">
                <a:solidFill>
                  <a:srgbClr val="F3F2F1"/>
                </a:solidFill>
                <a:latin typeface="Segoe UI"/>
              </a:rPr>
              <a:t>AI Tech Circle · 28 de maio de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